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6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4"/>
  </p:sldMasterIdLst>
  <p:notesMasterIdLst>
    <p:notesMasterId r:id="rId14"/>
  </p:notesMasterIdLst>
  <p:sldIdLst>
    <p:sldId id="303" r:id="rId5"/>
    <p:sldId id="3886" r:id="rId6"/>
    <p:sldId id="3889" r:id="rId7"/>
    <p:sldId id="3890" r:id="rId8"/>
    <p:sldId id="3888" r:id="rId9"/>
    <p:sldId id="3891" r:id="rId10"/>
    <p:sldId id="3893" r:id="rId11"/>
    <p:sldId id="3887" r:id="rId12"/>
    <p:sldId id="3892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108949-F49F-D0F9-EFB8-8E7688ABE62E}" name="Kumar, Nitish" initials="KN" userId="S::nitishkumar44@deloitte.com::a8398cf0-a0f8-4fd6-ac2e-c367d0f58972" providerId="AD"/>
  <p188:author id="{46D126CD-EA8D-23E1-BF8F-4553E81F1A84}" name="Zalavadia, Parth" initials="ZP" userId="S::pjagdishzalavadia@deloitte.com::f6ed9717-0e3e-4b6f-b56b-4d9d3d94e88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il, Rishikesh" initials="PR" lastIdx="1" clrIdx="0">
    <p:extLst>
      <p:ext uri="{19B8F6BF-5375-455C-9EA6-DF929625EA0E}">
        <p15:presenceInfo xmlns:p15="http://schemas.microsoft.com/office/powerpoint/2012/main" userId="S::rispatil@deloitte.com::91fb0937-f308-4d4e-a989-225965ece6b2" providerId="AD"/>
      </p:ext>
    </p:extLst>
  </p:cmAuthor>
  <p:cmAuthor id="2" name="Bishop, Grant" initials="BG" lastIdx="45" clrIdx="1">
    <p:extLst>
      <p:ext uri="{19B8F6BF-5375-455C-9EA6-DF929625EA0E}">
        <p15:presenceInfo xmlns:p15="http://schemas.microsoft.com/office/powerpoint/2012/main" userId="S::grbishop@deloitte.com::aa3ff02a-682a-4bc5-9b2d-c30961aa31e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6FC0"/>
    <a:srgbClr val="F5AE67"/>
    <a:srgbClr val="E87A30"/>
    <a:srgbClr val="671E7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7D622-E084-5F87-3F66-0D268ED19438}" v="157" dt="2025-09-19T10:51:57.316"/>
    <p1510:client id="{443CA4BF-4951-92CD-E126-355F5A6013F8}" v="13" dt="2025-09-19T16:38:18.842"/>
    <p1510:client id="{4D833E04-240E-5841-6FB6-A92A5CE6B634}" v="409" dt="2025-09-19T14:25:35.701"/>
    <p1510:client id="{501E042A-AD9B-36AA-85D1-7A9608572AB1}" v="237" dt="2025-09-19T16:53:22.145"/>
    <p1510:client id="{6770902D-5B8A-257B-8106-110C904C2916}" v="617" dt="2025-09-19T14:50:01.006"/>
    <p1510:client id="{9A3B3378-AFD1-C8C0-9DED-5B9B9C87F0DB}" v="10" dt="2025-09-19T14:08:01.779"/>
    <p1510:client id="{AD73713D-5569-7E70-27D4-E03B242A2BD6}" v="29" dt="2025-09-19T14:31:08.727"/>
    <p1510:client id="{C2C87B0B-F499-E678-BC24-012D161C1612}" v="138" dt="2025-09-19T11:50:24.760"/>
    <p1510:client id="{C5A27E75-AD45-498A-A9A6-800742BBA009}" v="9" dt="2025-09-19T14:12:35.917"/>
    <p1510:client id="{EDF3B5DC-0892-D6D8-950B-3931DF40C2B2}" v="116" dt="2025-09-19T12:28:02.677"/>
    <p1510:client id="{F8A60EF5-365B-5BD0-B269-680BA9533273}" v="101" dt="2025-09-19T14:04:24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2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3.bin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4.bin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https://amedeloitte.sharepoint.com/sites/CHRISTUSHealthPodEngagement/Shared%20Documents/General/Project%20Management/Work%20Packet%20Dashboard%20Master%20&amp;%20Work%20Packet%20Templates/CHRISTUS%20Health_Deloitte%20Work%20Packet%20Dashboard_Master_October%20202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../embeddings/oleObject5.bin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SER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92-48D3-9C2D-AE5687D73B7F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92-48D3-9C2D-AE5687D73B7F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4617-AC3F-D8E9D318EF4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Cogito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169-4707-9BEC-8BCF4A20C9F2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169-4707-9BEC-8BCF4A20C9F2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E14-46BE-9CA6-5FFA15682A5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MyChart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1E-4CE3-B63C-1D5CE92DCAB9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81E-4CE3-B63C-1D5CE92DCAB9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1E-4CE3-B63C-1D5CE92DCAB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Bridges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6E-484B-B141-E077AC49C950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E6E-484B-B141-E077AC49C950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E-484B-B141-E077AC49C95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CareLink Utilized Hours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AB-4214-BD31-7C67891A02C6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AB-4214-BD31-7C67891A02C6}"/>
              </c:ext>
            </c:extLst>
          </c:dPt>
          <c:cat>
            <c:strRef>
              <c:f>'[CHRISTUS Health_Deloitte Work Packet Dashboard_Master_October 2022 Refresh.xlsx]Utilized Hours'!$B$32:$B$33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Hours'!$C$32:$C$33</c:f>
              <c:numCache>
                <c:formatCode>General</c:formatCode>
                <c:ptCount val="2"/>
                <c:pt idx="0">
                  <c:v>0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4AB-4214-BD31-7C67891A0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Clarity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75-4721-A36A-FD876A766CD5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75-4721-A36A-FD876A766CD5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Hours'!$B$36:$B$37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Hours'!$C$36:$C$37</c:f>
              <c:numCache>
                <c:formatCode>General</c:formatCode>
                <c:ptCount val="2"/>
                <c:pt idx="0">
                  <c:v>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75-4721-A36A-FD876A766CD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QA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spPr>
            <a:solidFill>
              <a:srgbClr val="F79646">
                <a:lumMod val="60000"/>
                <a:lumOff val="40000"/>
              </a:srgbClr>
            </a:solidFill>
          </c:spPr>
          <c:dPt>
            <c:idx val="0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92-48D3-9C2D-AE5687D73B7F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92-48D3-9C2D-AE5687D73B7F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3C7-4617-AC3F-D8E9D318EF44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EC-DC Utilized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F5AE67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E6E-484B-B141-E077AC49C950}"/>
              </c:ext>
            </c:extLst>
          </c:dPt>
          <c:dPt>
            <c:idx val="1"/>
            <c:bubble3D val="0"/>
            <c:spPr>
              <a:solidFill>
                <a:srgbClr val="F79646">
                  <a:lumMod val="60000"/>
                  <a:lumOff val="40000"/>
                </a:srgbClr>
              </a:soli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E6E-484B-B141-E077AC49C950}"/>
              </c:ext>
            </c:extLst>
          </c:dPt>
          <c:dLbls>
            <c:delete val="1"/>
          </c:dLbls>
          <c:cat>
            <c:strRef>
              <c:f>'[CHRISTUS Health_Deloitte Work Packet Dashboard_Master_October 2022 Refresh.xlsx]Utilized Hours'!$B$30:$B$31</c:f>
              <c:strCache>
                <c:ptCount val="2"/>
                <c:pt idx="0">
                  <c:v>Available Hours</c:v>
                </c:pt>
                <c:pt idx="1">
                  <c:v>Utilized Hours</c:v>
                </c:pt>
              </c:strCache>
            </c:strRef>
          </c:cat>
          <c:val>
            <c:numRef>
              <c:f>'[CHRISTUS Health_Deloitte Work Packet Dashboard_Master_October 2022 Refresh.xlsx]Utilized Hours'!$C$30:$C$31</c:f>
              <c:numCache>
                <c:formatCode>General</c:formatCode>
                <c:ptCount val="2"/>
                <c:pt idx="0">
                  <c:v>0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6E-484B-B141-E077AC49C95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n-US" sz="1400">
                <a:solidFill>
                  <a:schemeClr val="tx1">
                    <a:lumMod val="50000"/>
                  </a:schemeClr>
                </a:solidFill>
                <a:latin typeface="+mj-lt"/>
              </a:rPr>
              <a:t>Test Automation Utilized Hours</a:t>
            </a:r>
          </a:p>
        </c:rich>
      </c:tx>
      <c:layout>
        <c:manualLayout>
          <c:xMode val="edge"/>
          <c:yMode val="edge"/>
          <c:x val="0.20956373492878577"/>
          <c:y val="7.6224208808717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E87A30"/>
              </a:solidFill>
            </a:ln>
          </c:spPr>
          <c:dPt>
            <c:idx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rgbClr val="426FC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CF2-421C-BEEE-F9F4D6BB4B2F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>
                <a:solidFill>
                  <a:srgbClr val="E87A3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CF2-421C-BEEE-F9F4D6BB4B2F}"/>
              </c:ext>
            </c:extLst>
          </c:dPt>
          <c:cat>
            <c:strRef>
              <c:f>Sheet1!$A$2:$A$3</c:f>
              <c:strCache>
                <c:ptCount val="2"/>
                <c:pt idx="0">
                  <c:v>Avaliable Hours</c:v>
                </c:pt>
                <c:pt idx="1">
                  <c:v>Utilized Hours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 formatCode="0%">
                  <c:v>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1-4846-BCAD-BA5585478B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770630197716881"/>
          <c:y val="0.87060210322798526"/>
          <c:w val="0.50193509323980923"/>
          <c:h val="8.57528351004279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21943-350D-4AAA-BB44-C822C3A37900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1FB3-FA6F-4C75-AC59-A84E83583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37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21FB3-FA6F-4C75-AC59-A84E83583C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65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2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25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44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42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9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07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87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DD572C-0642-445C-95EA-9BF60C5DC7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55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ACBF05-30FA-4270-B2DB-C9096FC2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243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ACBF05-30FA-4270-B2DB-C9096FC2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838D6-5A75-4EA7-B71D-A12B80DA3FAC}"/>
              </a:ext>
            </a:extLst>
          </p:cNvPr>
          <p:cNvSpPr txBox="1"/>
          <p:nvPr userDrawn="1"/>
        </p:nvSpPr>
        <p:spPr>
          <a:xfrm>
            <a:off x="9906000" y="5830955"/>
            <a:ext cx="2008094" cy="8495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9" name="Picture 2" descr="Free Download CHRISTUS Health Logo Vector from Tukuz.Com">
            <a:extLst>
              <a:ext uri="{FF2B5EF4-FFF2-40B4-BE49-F238E27FC236}">
                <a16:creationId xmlns:a16="http://schemas.microsoft.com/office/drawing/2014/main" id="{4088AA87-4578-46D4-A0EC-95736198BD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77" y="5724931"/>
            <a:ext cx="1754841" cy="97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7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"/>
            <a:ext cx="12192000" cy="591671"/>
          </a:xfrm>
          <a:solidFill>
            <a:srgbClr val="671E75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5D06988-DB0A-4A7A-8E6F-92124D93EB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8B0A0-9DB7-48FD-BC9C-515970487CB8}"/>
              </a:ext>
            </a:extLst>
          </p:cNvPr>
          <p:cNvSpPr txBox="1"/>
          <p:nvPr userDrawn="1"/>
        </p:nvSpPr>
        <p:spPr>
          <a:xfrm>
            <a:off x="9906000" y="5830955"/>
            <a:ext cx="2008094" cy="8495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0" name="Picture 2" descr="Free Download CHRISTUS Health Logo Vector from Tukuz.Com">
            <a:extLst>
              <a:ext uri="{FF2B5EF4-FFF2-40B4-BE49-F238E27FC236}">
                <a16:creationId xmlns:a16="http://schemas.microsoft.com/office/drawing/2014/main" id="{BCC3E8AE-4929-4431-B814-B87872AD10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677" y="5724931"/>
            <a:ext cx="1754841" cy="977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5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660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01272" y="6211891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1314084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7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74875"/>
            <a:ext cx="10972800" cy="395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919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B6B38-3BC5-4791-ADCC-4C2C5F1AF8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6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On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226F5-9DD4-461D-B923-E898C6CD8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5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with Two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226F5-9DD4-461D-B923-E898C6CD8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8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06988-DB0A-4A7A-8E6F-92124D93EB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808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627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F03C5-12A3-4E7B-BAFE-0B0A4C8D3E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80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57680-CBF0-4A9F-B861-CAC730B26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2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98797-A166-4045-949B-5C34A4BA80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978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35ADF-DDA2-4ADF-85C8-BB2F28B17E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37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4CCB0-30CB-4BE9-9488-2BBFC27F32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75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64202" y="6315346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36D061-70AC-41EE-A47E-84FD7C996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52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ll Font Heade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89600" y="6324603"/>
            <a:ext cx="862541" cy="365125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9745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0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0"/>
            <a:ext cx="11162349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99118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1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64202" y="6315346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b="1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36D061-70AC-41EE-A47E-84FD7C996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82EBE-76DF-450B-A1F1-B4311CCC9D01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943259" y="5890835"/>
            <a:ext cx="19335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79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sz="3500" kern="1200">
          <a:solidFill>
            <a:schemeClr val="tx1"/>
          </a:solidFill>
          <a:latin typeface="Arial"/>
          <a:ea typeface="+mj-ea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Arial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1.xml"/><Relationship Id="rId12" Type="http://schemas.openxmlformats.org/officeDocument/2006/relationships/chart" Target="../charts/chart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11" Type="http://schemas.openxmlformats.org/officeDocument/2006/relationships/chart" Target="../charts/chart5.xml"/><Relationship Id="rId5" Type="http://schemas.openxmlformats.org/officeDocument/2006/relationships/oleObject" Target="../embeddings/oleObject1.bin"/><Relationship Id="rId10" Type="http://schemas.openxmlformats.org/officeDocument/2006/relationships/chart" Target="../charts/chart4.xml"/><Relationship Id="rId4" Type="http://schemas.openxmlformats.org/officeDocument/2006/relationships/notesSlide" Target="../notesSlides/notesSlide8.xml"/><Relationship Id="rId9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slideLayout" Target="../slideLayouts/slideLayout3.xml"/><Relationship Id="rId7" Type="http://schemas.openxmlformats.org/officeDocument/2006/relationships/chart" Target="../charts/char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9.xml"/><Relationship Id="rId9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1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209800" y="2130428"/>
            <a:ext cx="7772400" cy="1470025"/>
          </a:xfrm>
          <a:solidFill>
            <a:srgbClr val="671E75"/>
          </a:solidFill>
        </p:spPr>
        <p:txBody>
          <a:bodyPr/>
          <a:lstStyle/>
          <a:p>
            <a:pPr algn="l"/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Weekly CHRISTUS Health</a:t>
            </a:r>
            <a:b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Deloitte Build Team Status Report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C581739-8C99-4CB5-B972-57FE3B7C5090}"/>
              </a:ext>
            </a:extLst>
          </p:cNvPr>
          <p:cNvSpPr txBox="1">
            <a:spLocks/>
          </p:cNvSpPr>
          <p:nvPr/>
        </p:nvSpPr>
        <p:spPr bwMode="auto">
          <a:xfrm>
            <a:off x="2209800" y="3429003"/>
            <a:ext cx="7772400" cy="61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35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  <a:lvl2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2pPr>
            <a:lvl3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3pPr>
            <a:lvl4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4pPr>
            <a:lvl5pPr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defRPr/>
            </a:pPr>
            <a:r>
              <a:rPr lang="en-US" sz="2400" b="1">
                <a:latin typeface="Open Sans"/>
                <a:ea typeface="Open Sans"/>
                <a:cs typeface="Open Sans"/>
              </a:rPr>
              <a:t>February 13th, 2026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039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619037"/>
              </p:ext>
            </p:extLst>
          </p:nvPr>
        </p:nvGraphicFramePr>
        <p:xfrm>
          <a:off x="0" y="445691"/>
          <a:ext cx="12191998" cy="64123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57801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858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0161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27574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 dirty="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849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EC Link</a:t>
                      </a: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</a:rPr>
                        <a:t>●</a:t>
                      </a:r>
                      <a:endParaRPr kumimoji="0" lang="en-US" sz="28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endParaRPr lang="en-US" sz="1000" dirty="0"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Ticket Status:</a:t>
                      </a:r>
                      <a:endParaRPr lang="en-US" sz="1000" b="1" i="0" u="none" strike="noStrike" kern="120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195127"/>
                  </a:ext>
                </a:extLst>
              </a:tr>
              <a:tr h="44362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SER</a:t>
                      </a: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buClr>
                          <a:schemeClr val="bg1"/>
                        </a:buClr>
                        <a:buFont typeface="Arial" panose="020B0604020202020204" pitchFamily="34" charset="0"/>
                        <a:buNone/>
                      </a:pPr>
                      <a:endParaRPr lang="en-US" sz="1000" b="1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8420" marR="0" lvl="0" indent="-5842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+mn-ea"/>
                        <a:cs typeface="+mn-cs"/>
                      </a:endParaRPr>
                    </a:p>
                    <a:p>
                      <a:pPr marL="58420" marR="0" lvl="0" indent="-5842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+mn-ea"/>
                        <a:cs typeface="+mn-c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48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97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8">
            <a:extLst>
              <a:ext uri="{FF2B5EF4-FFF2-40B4-BE49-F238E27FC236}">
                <a16:creationId xmlns:a16="http://schemas.microsoft.com/office/drawing/2014/main" id="{E90292FE-B6B7-40D4-B0C0-81963066012C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278797"/>
              </p:ext>
            </p:extLst>
          </p:nvPr>
        </p:nvGraphicFramePr>
        <p:xfrm>
          <a:off x="12722" y="473665"/>
          <a:ext cx="12200234" cy="6329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4195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09133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5880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6385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27461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MyChart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None/>
                      </a:pPr>
                      <a:endParaRPr lang="en-US" sz="9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highlight>
                          <a:srgbClr val="FFFFFF"/>
                        </a:highlight>
                        <a:latin typeface="Open Sans"/>
                        <a:ea typeface="+mn-ea"/>
                        <a:cs typeface="+mn-c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60011"/>
                  </a:ext>
                </a:extLst>
              </a:tr>
              <a:tr h="1847745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Bridges</a:t>
                      </a:r>
                      <a:endParaRPr lang="en-US" sz="1100"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000" b="1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  <a:t>Ticket Status:</a:t>
                      </a: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000" b="0" i="0" u="none" strike="noStrike" kern="1200" noProof="0" dirty="0">
                          <a:solidFill>
                            <a:srgbClr val="FFFFFF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•</a:t>
                      </a:r>
                      <a:endParaRPr lang="en-US" sz="1000" b="1" i="0" u="none" strike="noStrike" kern="1200" noProof="0" dirty="0">
                        <a:solidFill>
                          <a:schemeClr val="bg1"/>
                        </a:solidFill>
                        <a:effectLst/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dirty="0"/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b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</a:br>
                      <a:b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</a:rPr>
                      </a:br>
                      <a:endParaRPr lang="en-US" sz="1000" dirty="0">
                        <a:solidFill>
                          <a:srgbClr val="000000"/>
                        </a:solidFill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115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41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E7304DE9-855A-B136-ADE9-9FD1E4B926B0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833542"/>
              </p:ext>
            </p:extLst>
          </p:nvPr>
        </p:nvGraphicFramePr>
        <p:xfrm>
          <a:off x="0" y="464219"/>
          <a:ext cx="12181254" cy="6379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3646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36490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235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5295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427572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18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Clarity</a:t>
                      </a:r>
                      <a:endParaRPr lang="en-US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br>
                        <a:rPr lang="en-US" sz="1000" b="0" i="0" u="none" strike="noStrike" kern="1200" baseline="0" noProof="0" dirty="0">
                          <a:solidFill>
                            <a:srgbClr val="000000"/>
                          </a:solidFill>
                          <a:effectLst/>
                          <a:latin typeface="Open Sans"/>
                        </a:rPr>
                      </a:br>
                      <a:endParaRPr lang="en-US" sz="1000" b="0" i="0" u="none" strike="noStrike" kern="1200" baseline="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Tx/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</a:endParaRP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0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632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53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>
            <a:extLst>
              <a:ext uri="{FF2B5EF4-FFF2-40B4-BE49-F238E27FC236}">
                <a16:creationId xmlns:a16="http://schemas.microsoft.com/office/drawing/2014/main" id="{08AC427D-AA04-2DE6-D563-D030A9F3B211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68667"/>
              </p:ext>
            </p:extLst>
          </p:nvPr>
        </p:nvGraphicFramePr>
        <p:xfrm>
          <a:off x="0" y="471236"/>
          <a:ext cx="12200703" cy="3645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098593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23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2590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569088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1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 Cogito</a:t>
                      </a:r>
                      <a:endParaRPr lang="en-US" sz="1100"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Cogito Team currently working on the below items:</a:t>
                      </a:r>
                    </a:p>
                    <a:p>
                      <a:pPr marL="0" indent="0" algn="l" rtl="0" eaLnBrk="1" fontAlgn="base" latinLnBrk="0" hangingPunct="1"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171450" lvl="0" indent="-171450" algn="l">
                        <a:buClr>
                          <a:srgbClr val="FFFFFF"/>
                        </a:buClr>
                        <a:buFont typeface="Arial,Sans-Serif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  <a:p>
                      <a:pPr marL="0" lvl="0" indent="0" algn="l">
                        <a:buClrTx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FFFFFF"/>
                        </a:solidFill>
                        <a:effectLst/>
                        <a:latin typeface="Open Sans"/>
                      </a:endParaRPr>
                    </a:p>
                    <a:p>
                      <a:pPr marL="0" lvl="0" indent="0" algn="l">
                        <a:buClrTx/>
                        <a:buNone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lvl="0" indent="-171450" algn="l">
                        <a:buClrTx/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endParaRPr lang="en-US" sz="10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346495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8106A3D-C011-2028-4E94-1FC5DD665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92411"/>
              </p:ext>
            </p:extLst>
          </p:nvPr>
        </p:nvGraphicFramePr>
        <p:xfrm>
          <a:off x="11373" y="4172867"/>
          <a:ext cx="12169245" cy="1291269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1590932">
                  <a:extLst>
                    <a:ext uri="{9D8B030D-6E8A-4147-A177-3AD203B41FA5}">
                      <a16:colId xmlns:a16="http://schemas.microsoft.com/office/drawing/2014/main" val="808887276"/>
                    </a:ext>
                  </a:extLst>
                </a:gridCol>
                <a:gridCol w="1440947">
                  <a:extLst>
                    <a:ext uri="{9D8B030D-6E8A-4147-A177-3AD203B41FA5}">
                      <a16:colId xmlns:a16="http://schemas.microsoft.com/office/drawing/2014/main" val="968246071"/>
                    </a:ext>
                  </a:extLst>
                </a:gridCol>
                <a:gridCol w="1536806">
                  <a:extLst>
                    <a:ext uri="{9D8B030D-6E8A-4147-A177-3AD203B41FA5}">
                      <a16:colId xmlns:a16="http://schemas.microsoft.com/office/drawing/2014/main" val="529651758"/>
                    </a:ext>
                  </a:extLst>
                </a:gridCol>
                <a:gridCol w="1536806">
                  <a:extLst>
                    <a:ext uri="{9D8B030D-6E8A-4147-A177-3AD203B41FA5}">
                      <a16:colId xmlns:a16="http://schemas.microsoft.com/office/drawing/2014/main" val="1500426785"/>
                    </a:ext>
                  </a:extLst>
                </a:gridCol>
                <a:gridCol w="1626551">
                  <a:extLst>
                    <a:ext uri="{9D8B030D-6E8A-4147-A177-3AD203B41FA5}">
                      <a16:colId xmlns:a16="http://schemas.microsoft.com/office/drawing/2014/main" val="2520556192"/>
                    </a:ext>
                  </a:extLst>
                </a:gridCol>
                <a:gridCol w="1405325">
                  <a:extLst>
                    <a:ext uri="{9D8B030D-6E8A-4147-A177-3AD203B41FA5}">
                      <a16:colId xmlns:a16="http://schemas.microsoft.com/office/drawing/2014/main" val="3927639899"/>
                    </a:ext>
                  </a:extLst>
                </a:gridCol>
                <a:gridCol w="1515939">
                  <a:extLst>
                    <a:ext uri="{9D8B030D-6E8A-4147-A177-3AD203B41FA5}">
                      <a16:colId xmlns:a16="http://schemas.microsoft.com/office/drawing/2014/main" val="2320652233"/>
                    </a:ext>
                  </a:extLst>
                </a:gridCol>
                <a:gridCol w="1515939">
                  <a:extLst>
                    <a:ext uri="{9D8B030D-6E8A-4147-A177-3AD203B41FA5}">
                      <a16:colId xmlns:a16="http://schemas.microsoft.com/office/drawing/2014/main" val="3172448152"/>
                    </a:ext>
                  </a:extLst>
                </a:gridCol>
              </a:tblGrid>
              <a:tr h="640362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Report Status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____________________</a:t>
                      </a:r>
                    </a:p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Type of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Returned to Deloitte/</a:t>
                      </a:r>
                    </a:p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re-work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# of Reports WIP with Deloitte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Pending for Owners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  Ready to Deploy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Deployed to PRD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# of Reports Out of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Total # of Reports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910169"/>
                  </a:ext>
                </a:extLst>
              </a:tr>
              <a:tr h="337773"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SSRS Description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1900"/>
                  </a:ext>
                </a:extLst>
              </a:tr>
              <a:tr h="313134"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SSRS Branding Work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3241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D0D33A-8DEE-3B9D-AAFA-5A4F1BB92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93289"/>
              </p:ext>
            </p:extLst>
          </p:nvPr>
        </p:nvGraphicFramePr>
        <p:xfrm>
          <a:off x="10026" y="5514473"/>
          <a:ext cx="12169246" cy="1350965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380686">
                  <a:extLst>
                    <a:ext uri="{9D8B030D-6E8A-4147-A177-3AD203B41FA5}">
                      <a16:colId xmlns:a16="http://schemas.microsoft.com/office/drawing/2014/main" val="808887276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968246071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529651758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1500426785"/>
                    </a:ext>
                  </a:extLst>
                </a:gridCol>
                <a:gridCol w="2447140">
                  <a:extLst>
                    <a:ext uri="{9D8B030D-6E8A-4147-A177-3AD203B41FA5}">
                      <a16:colId xmlns:a16="http://schemas.microsoft.com/office/drawing/2014/main" val="3891402016"/>
                    </a:ext>
                  </a:extLst>
                </a:gridCol>
              </a:tblGrid>
              <a:tr h="570689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SSRS Epic Catalog Link 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Component build in POC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Completed Catalog Branding changes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Completed Catalog Description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100" b="1" kern="1200">
                          <a:solidFill>
                            <a:srgbClr val="FFFFFF"/>
                          </a:solidFill>
                        </a:rPr>
                        <a:t>Updated approved Descriptions in TFS reports in this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910169"/>
                  </a:ext>
                </a:extLst>
              </a:tr>
              <a:tr h="384036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Cumulative Count (Overall)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521900"/>
                  </a:ext>
                </a:extLst>
              </a:tr>
              <a:tr h="384036"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Week Ending 09/26- Work Packet Status Report Count 05/9/2025</a:t>
                      </a:r>
                      <a:endParaRPr lang="en-US" sz="20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latin typeface="Open Sans"/>
                          <a:ea typeface="Open Sans"/>
                          <a:cs typeface="Open Sans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032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0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Ending 09/26- Work Packet Status Report 07/04 - Work Packet Status Report</a:t>
            </a:r>
          </a:p>
        </p:txBody>
      </p:sp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272708"/>
              </p:ext>
            </p:extLst>
          </p:nvPr>
        </p:nvGraphicFramePr>
        <p:xfrm>
          <a:off x="0" y="-161393"/>
          <a:ext cx="12198094" cy="71187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5704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124908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65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1991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644499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25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kern="1200">
                          <a:solidFill>
                            <a:srgbClr val="000000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Quality Assurance</a:t>
                      </a:r>
                      <a:endParaRPr lang="en-US" sz="105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</a:rPr>
                        <a:t>●</a:t>
                      </a:r>
                      <a:endParaRPr kumimoji="0" lang="en-US" sz="32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None/>
                      </a:pPr>
                      <a:r>
                        <a:rPr lang="en-US" sz="900" b="1" i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Open Sans"/>
                          <a:ea typeface="Open Sans"/>
                          <a:cs typeface="Open Sans"/>
                        </a:rPr>
                        <a:t>As part of Converge Integration Testing: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900" b="0" i="0" u="none" strike="noStrike" kern="1200" baseline="0" noProof="0" dirty="0">
                        <a:solidFill>
                          <a:schemeClr val="bg1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195127"/>
                  </a:ext>
                </a:extLst>
              </a:tr>
              <a:tr h="270803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Open Sans"/>
                        </a:rPr>
                        <a:t>Test Automation</a:t>
                      </a: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3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171450" marR="0" lvl="0" indent="-17145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900" b="0" i="0" u="none" strike="noStrike" kern="1200" noProof="0" dirty="0">
                        <a:solidFill>
                          <a:schemeClr val="bg1"/>
                        </a:solidFill>
                        <a:effectLst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9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219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83BFA58D-6180-4B4C-B228-A4B00ADD0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87179"/>
              </p:ext>
            </p:extLst>
          </p:nvPr>
        </p:nvGraphicFramePr>
        <p:xfrm>
          <a:off x="0" y="445695"/>
          <a:ext cx="12198096" cy="90400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017">
                  <a:extLst>
                    <a:ext uri="{9D8B030D-6E8A-4147-A177-3AD203B41FA5}">
                      <a16:colId xmlns:a16="http://schemas.microsoft.com/office/drawing/2014/main" val="4130080455"/>
                    </a:ext>
                  </a:extLst>
                </a:gridCol>
                <a:gridCol w="1078861">
                  <a:extLst>
                    <a:ext uri="{9D8B030D-6E8A-4147-A177-3AD203B41FA5}">
                      <a16:colId xmlns:a16="http://schemas.microsoft.com/office/drawing/2014/main" val="3842842890"/>
                    </a:ext>
                  </a:extLst>
                </a:gridCol>
                <a:gridCol w="4915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2455460313"/>
                    </a:ext>
                  </a:extLst>
                </a:gridCol>
              </a:tblGrid>
              <a:tr h="588778"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Item / Application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WP Pipeline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Overall Status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Open Sans"/>
                          <a:ea typeface="Open Sans"/>
                          <a:cs typeface="Open Sans"/>
                        </a:rPr>
                        <a:t>Outstanding Items / Upcoming Activities</a:t>
                      </a:r>
                      <a:endParaRPr lang="en-US" sz="1200"/>
                    </a:p>
                  </a:txBody>
                  <a:tcPr marT="25807" marB="25807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71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12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100" b="1" kern="1200" baseline="0">
                          <a:solidFill>
                            <a:schemeClr val="bg1"/>
                          </a:solidFill>
                          <a:latin typeface="Open Sans"/>
                          <a:ea typeface="Open Sans"/>
                          <a:cs typeface="Open Sans"/>
                        </a:rPr>
                        <a:t>Environment Control and Data Courier (EC-DC)</a:t>
                      </a: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Open Sans"/>
                          <a:ea typeface="Open Sans"/>
                          <a:cs typeface="Open Sans"/>
                        </a:rPr>
                        <a:t>●</a:t>
                      </a: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CMT Audit Process Documentation: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Minor CMT Audit: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Duplicate Provider Cleanup</a:t>
                      </a:r>
                      <a:r>
                        <a:rPr lang="en-US" sz="1000" b="0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CIRT Documents Review: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DC Migration SNOW Requests: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DC Provider Maintenance &amp; SER Migration: 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Daily CMT Report &amp; Standards Audit: 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  <a:latin typeface="Open Sans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i="0" u="none" strike="noStrike" noProof="0" dirty="0">
                          <a:solidFill>
                            <a:schemeClr val="bg1"/>
                          </a:solidFill>
                          <a:latin typeface="Open Sans"/>
                        </a:rPr>
                        <a:t>EHR Sub-CAB QA Activities:</a:t>
                      </a:r>
                      <a:endParaRPr lang="en-US" sz="1000" b="0" i="0" u="none" strike="noStrike" noProof="0" dirty="0">
                        <a:solidFill>
                          <a:schemeClr val="bg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000" b="0" i="0" u="none" strike="noStrike" noProof="0" dirty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dirty="0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148647"/>
                  </a:ext>
                </a:extLst>
              </a:tr>
              <a:tr h="23800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3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endParaRPr lang="en-US" sz="1000" b="0" i="0" u="none" strike="noStrike" noProof="0">
                        <a:solidFill>
                          <a:schemeClr val="bg1"/>
                        </a:solidFill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endParaRPr lang="en-US" sz="1000" b="0" i="0" u="none" strike="noStrike" kern="1200" noProof="0" dirty="0">
                        <a:solidFill>
                          <a:srgbClr val="242424"/>
                        </a:solidFill>
                        <a:effectLst/>
                        <a:latin typeface="Open Sans"/>
                      </a:endParaRPr>
                    </a:p>
                  </a:txBody>
                  <a:tcPr marT="18288" marB="18288" anchor="ctr">
                    <a:lnL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96021"/>
                  </a:ext>
                </a:extLst>
              </a:tr>
            </a:tbl>
          </a:graphicData>
        </a:graphic>
      </p:graphicFrame>
      <p:sp>
        <p:nvSpPr>
          <p:cNvPr id="3" name="Title 8">
            <a:extLst>
              <a:ext uri="{FF2B5EF4-FFF2-40B4-BE49-F238E27FC236}">
                <a16:creationId xmlns:a16="http://schemas.microsoft.com/office/drawing/2014/main" id="{75F054CF-6AE0-8485-8FC4-40D3032C1623}"/>
              </a:ext>
            </a:extLst>
          </p:cNvPr>
          <p:cNvSpPr txBox="1">
            <a:spLocks/>
          </p:cNvSpPr>
          <p:nvPr/>
        </p:nvSpPr>
        <p:spPr>
          <a:xfrm>
            <a:off x="-1" y="0"/>
            <a:ext cx="12192001" cy="445692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07598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38F60-A9FE-1654-1C8E-910D59D3F843}"/>
              </a:ext>
            </a:extLst>
          </p:cNvPr>
          <p:cNvGrpSpPr/>
          <p:nvPr/>
        </p:nvGrpSpPr>
        <p:grpSpPr>
          <a:xfrm>
            <a:off x="-213830" y="1085056"/>
            <a:ext cx="12619660" cy="4720548"/>
            <a:chOff x="-198085" y="1085056"/>
            <a:chExt cx="12619660" cy="4720548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9593DCDB-F8CB-49B3-9AEF-CFC9146AC8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59215597"/>
                </p:ext>
              </p:extLst>
            </p:nvPr>
          </p:nvGraphicFramePr>
          <p:xfrm>
            <a:off x="-142896" y="1145799"/>
            <a:ext cx="4601471" cy="21971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15" name="Chart 14">
              <a:extLst>
                <a:ext uri="{FF2B5EF4-FFF2-40B4-BE49-F238E27FC236}">
                  <a16:creationId xmlns:a16="http://schemas.microsoft.com/office/drawing/2014/main" id="{D48660F9-9C10-4205-B7BC-0D03B7AC07B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8404424"/>
                </p:ext>
              </p:extLst>
            </p:nvPr>
          </p:nvGraphicFramePr>
          <p:xfrm>
            <a:off x="3846196" y="3402832"/>
            <a:ext cx="4580853" cy="23504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10" name="Chart 9">
              <a:extLst>
                <a:ext uri="{FF2B5EF4-FFF2-40B4-BE49-F238E27FC236}">
                  <a16:creationId xmlns:a16="http://schemas.microsoft.com/office/drawing/2014/main" id="{1DDEC4AF-17D2-4B8F-9835-5549BC66E67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71574134"/>
                </p:ext>
              </p:extLst>
            </p:nvPr>
          </p:nvGraphicFramePr>
          <p:xfrm>
            <a:off x="7809233" y="3410340"/>
            <a:ext cx="4579171" cy="233541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8F73F8B6-D25E-47F2-BFFD-FDD187ABD36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48801993"/>
                </p:ext>
              </p:extLst>
            </p:nvPr>
          </p:nvGraphicFramePr>
          <p:xfrm>
            <a:off x="3791739" y="1098393"/>
            <a:ext cx="4689766" cy="23044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C46D6D57-59A9-252F-536D-6CFA8E67681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25631169"/>
                </p:ext>
              </p:extLst>
            </p:nvPr>
          </p:nvGraphicFramePr>
          <p:xfrm>
            <a:off x="7809233" y="1085056"/>
            <a:ext cx="4612342" cy="23044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666A6077-2065-0478-19D2-231E607913E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7374636"/>
                </p:ext>
              </p:extLst>
            </p:nvPr>
          </p:nvGraphicFramePr>
          <p:xfrm>
            <a:off x="-198085" y="3455169"/>
            <a:ext cx="4580853" cy="235043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</p:grpSp>
      <p:sp>
        <p:nvSpPr>
          <p:cNvPr id="7" name="Title 8">
            <a:extLst>
              <a:ext uri="{FF2B5EF4-FFF2-40B4-BE49-F238E27FC236}">
                <a16:creationId xmlns:a16="http://schemas.microsoft.com/office/drawing/2014/main" id="{1BC6CA72-97A4-B651-D3FD-5F4F9F92BC64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94726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3636E115-5E1B-4F14-AF9E-7710AEBB7D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3636E115-5E1B-4F14-AF9E-7710AEBB7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3803FD3E-B1A5-4B86-827A-87806B3A1A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endParaRPr lang="en-US" sz="3600">
              <a:latin typeface="Chronicle Display Black" pitchFamily="50" charset="0"/>
              <a:sym typeface="Chronicle Display Black" pitchFamily="50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9593DCDB-F8CB-49B3-9AEF-CFC9146AC8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7032336"/>
              </p:ext>
            </p:extLst>
          </p:nvPr>
        </p:nvGraphicFramePr>
        <p:xfrm>
          <a:off x="3803207" y="3599644"/>
          <a:ext cx="4585587" cy="225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3F8B6-D25E-47F2-BFFD-FDD187ABD3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630676"/>
              </p:ext>
            </p:extLst>
          </p:nvPr>
        </p:nvGraphicFramePr>
        <p:xfrm>
          <a:off x="867956" y="1124561"/>
          <a:ext cx="4689766" cy="2304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E2596A8-71AF-EF69-987B-E337D646CA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5408599"/>
              </p:ext>
            </p:extLst>
          </p:nvPr>
        </p:nvGraphicFramePr>
        <p:xfrm>
          <a:off x="7126575" y="1178212"/>
          <a:ext cx="3596750" cy="225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Title 8">
            <a:extLst>
              <a:ext uri="{FF2B5EF4-FFF2-40B4-BE49-F238E27FC236}">
                <a16:creationId xmlns:a16="http://schemas.microsoft.com/office/drawing/2014/main" id="{76C02369-2DE7-DFC3-A69E-5A0A1AE1D969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2200234" cy="464218"/>
          </a:xfrm>
          <a:prstGeom prst="rect">
            <a:avLst/>
          </a:prstGeom>
          <a:solidFill>
            <a:srgbClr val="671E75"/>
          </a:solidFill>
        </p:spPr>
        <p:txBody>
          <a:bodyPr vert="horz" lIns="0" tIns="4572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spc="-75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Week </a:t>
            </a:r>
            <a:r>
              <a:rPr lang="en-US"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Ending 02/13 </a:t>
            </a:r>
            <a:r>
              <a:rPr lang="en-US" sz="2400" b="1" dirty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- Work Packet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988166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PS2ZriRwOZ_IuZru1j7g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F8A9E3-6F3C-4856-9A3E-7D997EC800EF}">
  <we:reference id="412591f7-1c94-4fad-a2de-1f1a9f181c0c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5E5BA06A902547B72725678B9AC8F3" ma:contentTypeVersion="16" ma:contentTypeDescription="Create a new document." ma:contentTypeScope="" ma:versionID="271747c30a1d0c6f35a5932e18e305f5">
  <xsd:schema xmlns:xsd="http://www.w3.org/2001/XMLSchema" xmlns:xs="http://www.w3.org/2001/XMLSchema" xmlns:p="http://schemas.microsoft.com/office/2006/metadata/properties" xmlns:ns2="21eabdcc-72ab-4064-9f46-5100b1dc17a4" xmlns:ns3="0c8cfcba-b016-4e30-8556-6f1cb7c975af" targetNamespace="http://schemas.microsoft.com/office/2006/metadata/properties" ma:root="true" ma:fieldsID="0af4f099e4a2bd447a847ed71e35eb91" ns2:_="" ns3:_="">
    <xsd:import namespace="21eabdcc-72ab-4064-9f46-5100b1dc17a4"/>
    <xsd:import namespace="0c8cfcba-b016-4e30-8556-6f1cb7c975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eabdcc-72ab-4064-9f46-5100b1dc17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8cfcba-b016-4e30-8556-6f1cb7c975a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1b69687-e3b3-42f9-8e99-a69d61ab0aa7}" ma:internalName="TaxCatchAll" ma:showField="CatchAllData" ma:web="0c8cfcba-b016-4e30-8556-6f1cb7c975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c8cfcba-b016-4e30-8556-6f1cb7c975af">
      <UserInfo>
        <DisplayName>Choudhary, Babita</DisplayName>
        <AccountId>49</AccountId>
        <AccountType/>
      </UserInfo>
    </SharedWithUsers>
    <TaxCatchAll xmlns="0c8cfcba-b016-4e30-8556-6f1cb7c975af" xsi:nil="true"/>
    <lcf76f155ced4ddcb4097134ff3c332f xmlns="21eabdcc-72ab-4064-9f46-5100b1dc17a4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4F9743-95BA-4C12-87A3-813E241F842B}">
  <ds:schemaRefs>
    <ds:schemaRef ds:uri="0c8cfcba-b016-4e30-8556-6f1cb7c975af"/>
    <ds:schemaRef ds:uri="21eabdcc-72ab-4064-9f46-5100b1dc17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D88867B-BE9D-4D7C-80E8-0A5B242C20CF}">
  <ds:schemaRefs>
    <ds:schemaRef ds:uri="0c8cfcba-b016-4e30-8556-6f1cb7c975af"/>
    <ds:schemaRef ds:uri="21eabdcc-72ab-4064-9f46-5100b1dc17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0FE039-71A2-40B4-A75C-21F3CDB51F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 16_9 onscreen</Template>
  <TotalTime>59</TotalTime>
  <Words>408</Words>
  <Application>Microsoft Office PowerPoint</Application>
  <PresentationFormat>Widescreen</PresentationFormat>
  <Paragraphs>152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Wingdings</vt:lpstr>
      <vt:lpstr>Chronicle Display Black</vt:lpstr>
      <vt:lpstr>Calibri</vt:lpstr>
      <vt:lpstr>Open Sans</vt:lpstr>
      <vt:lpstr>Arial,Sans-Serif</vt:lpstr>
      <vt:lpstr>Arial</vt:lpstr>
      <vt:lpstr>1_Office Theme</vt:lpstr>
      <vt:lpstr>think-cell Slide</vt:lpstr>
      <vt:lpstr>Weekly CHRISTUS Health Deloitte Build Team Status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 A, Hariharan</dc:creator>
  <cp:lastModifiedBy>Kumar, Akshaya</cp:lastModifiedBy>
  <cp:revision>13</cp:revision>
  <dcterms:created xsi:type="dcterms:W3CDTF">2021-09-30T10:57:45Z</dcterms:created>
  <dcterms:modified xsi:type="dcterms:W3CDTF">2026-02-13T04:25:57Z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2021-09-30T10:57:45Z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b7a8ca17-954c-4c13-ab1c-82ed3c92e115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0x010100BE5E5BA06A902547B72725678B9AC8F3</vt:lpwstr>
  </property>
  <property fmtid="{D5CDD505-2E9C-101B-9397-08002B2CF9AE}" pid="10" name="MediaServiceImageTags">
    <vt:lpwstr/>
  </property>
  <property fmtid="{D5CDD505-2E9C-101B-9397-08002B2CF9AE}" pid="11" name="MSIP_Label_ea60d57e-af5b-4752-ac57-3e4f28ca11dc_Tag">
    <vt:lpwstr>10, 3, 0, 2</vt:lpwstr>
  </property>
</Properties>
</file>